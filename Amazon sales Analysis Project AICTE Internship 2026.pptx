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Lst>
  <p:notesMasterIdLst>
    <p:notesMasterId r:id="rId5"/>
  </p:notesMasterIdLst>
  <p:sldIdLst>
    <p:sldId id="256" r:id="rId4"/>
    <p:sldId id="571" r:id="rId6"/>
    <p:sldId id="572" r:id="rId7"/>
    <p:sldId id="573" r:id="rId8"/>
    <p:sldId id="583" r:id="rId9"/>
    <p:sldId id="574" r:id="rId10"/>
    <p:sldId id="584" r:id="rId11"/>
    <p:sldId id="575" r:id="rId12"/>
    <p:sldId id="586" r:id="rId13"/>
    <p:sldId id="576" r:id="rId14"/>
    <p:sldId id="587" r:id="rId15"/>
    <p:sldId id="577" r:id="rId16"/>
    <p:sldId id="579" r:id="rId17"/>
    <p:sldId id="578" r:id="rId18"/>
    <p:sldId id="536" r:id="rId19"/>
  </p:sldIdLst>
  <p:sldSz cx="12192000" cy="6858000"/>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26"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showGuides="1">
      <p:cViewPr varScale="1">
        <p:scale>
          <a:sx n="107" d="100"/>
          <a:sy n="107" d="100"/>
        </p:scale>
        <p:origin x="102" y="132"/>
      </p:cViewPr>
      <p:guideLst>
        <p:guide orient="horz" pos="672"/>
        <p:guide pos="326"/>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gs" Target="tags/tag4.xml"/><Relationship Id="rId23" Type="http://schemas.microsoft.com/office/2018/10/relationships/authors" Targe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matchingName="Title and body">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a:p>
        </p:txBody>
      </p:sp>
      <p:sp>
        <p:nvSpPr>
          <p:cNvPr id="4" name="Date Placeholder 3"/>
          <p:cNvSpPr>
            <a:spLocks noGrp="1"/>
          </p:cNvSpPr>
          <p:nvPr>
            <p:ph type="dt" sz="half" idx="10"/>
          </p:nvPr>
        </p:nvSpPr>
        <p:spPr/>
        <p:txBody>
          <a:bodyPr/>
          <a:lstStyle/>
          <a:p>
            <a:fld id="{846CE7D5-CF57-46EF-B807-FDD0502418D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matchingName="Title and body">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6.xml"/><Relationship Id="rId3" Type="http://schemas.openxmlformats.org/officeDocument/2006/relationships/tags" Target="../tags/tag2.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hyperlink" Target="https://github.com/saisree1431/Amazon-Sales_Analysis-Project-using-Power-BI" TargetMode="External"/><Relationship Id="rId1" Type="http://schemas.openxmlformats.org/officeDocument/2006/relationships/hyperlink" Target="https://www.kaggle.com/code/mehakiftikhar/amazon-sales-dataset-eda/input"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525" y="963295"/>
            <a:ext cx="4746625" cy="279654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endParaRPr lang="en-US" sz="5100">
              <a:latin typeface="Aptos"/>
            </a:endParaRPr>
          </a:p>
          <a:p>
            <a:pPr algn="l"/>
            <a:br>
              <a:rPr lang="en-US" sz="5100" b="1" dirty="0"/>
            </a:br>
            <a:r>
              <a:rPr lang="en-US" sz="2800" b="1">
                <a:latin typeface="Aptos"/>
              </a:rPr>
              <a:t>AMAZON SALES ANALYSIS PROJECT USING POWER BI</a:t>
            </a:r>
            <a:endParaRPr lang="en-US" sz="5400" b="1">
              <a:latin typeface="Aptos"/>
            </a:endParaRPr>
          </a:p>
          <a:p>
            <a:pPr algn="l"/>
            <a:endParaRPr lang="en-US" sz="5400" b="1" kern="1200">
              <a:latin typeface="Aptos"/>
            </a:endParaRPr>
          </a:p>
        </p:txBody>
      </p:sp>
      <p:sp>
        <p:nvSpPr>
          <p:cNvPr id="5" name="Subtitle 2"/>
          <p:cNvSpPr>
            <a:spLocks noGrp="1"/>
          </p:cNvSpPr>
          <p:nvPr/>
        </p:nvSpPr>
        <p:spPr>
          <a:xfrm>
            <a:off x="594360" y="3759835"/>
            <a:ext cx="4166235" cy="2748915"/>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a:t>Presented By</a:t>
            </a:r>
            <a:endParaRPr lang="en-US" sz="1600" cap="all"/>
          </a:p>
          <a:p>
            <a:pPr algn="l">
              <a:spcAft>
                <a:spcPts val="600"/>
              </a:spcAft>
            </a:pPr>
            <a:r>
              <a:rPr lang="en-US" sz="1600" b="1" cap="all"/>
              <a:t>Student Name: UJJURI SAISRI</a:t>
            </a:r>
            <a:endParaRPr lang="en-US" sz="1600" b="1" cap="all"/>
          </a:p>
          <a:p>
            <a:pPr algn="l">
              <a:spcAft>
                <a:spcPts val="600"/>
              </a:spcAft>
            </a:pPr>
            <a:r>
              <a:rPr lang="en-US" sz="1600" b="1" cap="all"/>
              <a:t>College Name: AVANTHI’S ST.THERESSA INSTITUTE OF ENGINEERING &amp; TECHNOLOGY</a:t>
            </a:r>
            <a:endParaRPr lang="en-US" sz="1600" b="1" cap="all"/>
          </a:p>
          <a:p>
            <a:pPr algn="l">
              <a:spcAft>
                <a:spcPts val="600"/>
              </a:spcAft>
            </a:pPr>
            <a:r>
              <a:rPr lang="en-US" sz="1600" b="1" cap="all"/>
              <a:t>Department: CSE(AI&amp;ML)</a:t>
            </a:r>
            <a:endParaRPr lang="en-US" sz="1600" b="1" cap="all"/>
          </a:p>
          <a:p>
            <a:pPr algn="l">
              <a:spcAft>
                <a:spcPts val="600"/>
              </a:spcAft>
            </a:pPr>
            <a:r>
              <a:rPr lang="en-US" sz="1600" b="1" cap="all"/>
              <a:t>Email ID: saisriujjuri206@gmail.com</a:t>
            </a:r>
            <a:endParaRPr lang="en-US" sz="1600" b="1" cap="all"/>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my_profilePic_half"/>
          <p:cNvPicPr>
            <a:picLocks noChangeAspect="1"/>
          </p:cNvPicPr>
          <p:nvPr/>
        </p:nvPicPr>
        <p:blipFill>
          <a:blip r:embed="rId2"/>
          <a:stretch>
            <a:fillRect/>
          </a:stretch>
        </p:blipFill>
        <p:spPr>
          <a:xfrm>
            <a:off x="7103110" y="1205865"/>
            <a:ext cx="3294380" cy="3496945"/>
          </a:xfrm>
          <a:prstGeom prst="rect">
            <a:avLst/>
          </a:prstGeom>
          <a:pattFill prst="pct5">
            <a:fgClr>
              <a:schemeClr val="accent1"/>
            </a:fgClr>
            <a:bgClr>
              <a:schemeClr val="bg1"/>
            </a:bgClr>
          </a:pattFill>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panose="020B0604020202020204"/>
                <a:cs typeface="Arial" panose="020B0604020202020204"/>
              </a:rPr>
              <a:t>Problem Statement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Proposed System/Solution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System Development Approach</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Algorithm &amp; Deployment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Result</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Conclusion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Future Scope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References</a:t>
            </a:r>
            <a:endParaRPr lang="en-US" sz="2200">
              <a:latin typeface="Arial" panose="020B0604020202020204"/>
              <a:cs typeface="Arial" panose="020B0604020202020204"/>
            </a:endParaRPr>
          </a:p>
          <a:p>
            <a:endParaRPr lang="en-GB" sz="220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altLang="en-US" sz="2200"/>
              <a:t>With the rapid growth of e-commerce platforms like Amazon, a large amount of product data such as pricing, discounts, and customer ratings is generated daily. Analyzing this data manually is difficult and time-consuming. Businesses need a clear understanding of product performance and customer preferences to make better decisions. Therefore, there is a need for a data analysis system that can transform Amazon product data into meaningful insights using visual dashboards.</a:t>
            </a:r>
            <a:endParaRPr lang="en-US" altLang="en-US" sz="2200"/>
          </a:p>
          <a:p>
            <a:pPr marL="0" indent="0">
              <a:buNone/>
            </a:pPr>
            <a:endParaRPr lang="en-US" altLang="en-US" sz="2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290"/>
            <a:ext cx="10515600" cy="4609465"/>
          </a:xfrm>
        </p:spPr>
        <p:txBody>
          <a:bodyPr vert="horz" lIns="91440" tIns="45720" rIns="91440" bIns="45720" rtlCol="0" anchor="t">
            <a:noAutofit/>
          </a:bodyPr>
          <a:lstStyle/>
          <a:p>
            <a:pPr marL="0" indent="0">
              <a:spcBef>
                <a:spcPct val="20000"/>
              </a:spcBef>
              <a:spcAft>
                <a:spcPts val="600"/>
              </a:spcAft>
              <a:buFont typeface="Arial" panose="020B0604020202020204"/>
              <a:buNone/>
            </a:pPr>
            <a:r>
              <a:rPr lang="en-US" altLang="en-US" sz="1400" dirty="0"/>
              <a:t>The proposed system aims to analyze Amazon product data and provide meaningful insights through an interactive Power BI dashboard. This involves using data analytics and visualization techniques to understand product performance, pricing trends, discounts, and customer ratings. The solution consists of the following components:</a:t>
            </a:r>
            <a:endParaRPr lang="en-US" altLang="en-US" sz="1400" dirty="0"/>
          </a:p>
          <a:p>
            <a:pPr marL="0" indent="0">
              <a:spcBef>
                <a:spcPct val="20000"/>
              </a:spcBef>
              <a:spcAft>
                <a:spcPts val="600"/>
              </a:spcAft>
              <a:buFont typeface="Arial" panose="020B0604020202020204"/>
              <a:buNone/>
            </a:pPr>
            <a:r>
              <a:rPr lang="en-US" altLang="en-US" sz="1400" b="1" dirty="0"/>
              <a:t>Data Collection:</a:t>
            </a:r>
            <a:endParaRPr lang="en-US" altLang="en-US" sz="1400" b="1" dirty="0"/>
          </a:p>
          <a:p>
            <a:pPr>
              <a:spcBef>
                <a:spcPct val="20000"/>
              </a:spcBef>
              <a:spcAft>
                <a:spcPts val="600"/>
              </a:spcAft>
              <a:buFont typeface="Wingdings" panose="05000000000000000000" charset="0"/>
              <a:buChar char="v"/>
            </a:pPr>
            <a:r>
              <a:rPr lang="en-US" altLang="en-US" sz="1400" dirty="0"/>
              <a:t>Collect Amazon product dataset containing details such as product name, category, actual price, discounted price, ratings, and review counts.</a:t>
            </a:r>
            <a:endParaRPr lang="en-US" altLang="en-US" sz="1400" dirty="0"/>
          </a:p>
          <a:p>
            <a:pPr marL="0" indent="0">
              <a:spcBef>
                <a:spcPct val="20000"/>
              </a:spcBef>
              <a:spcAft>
                <a:spcPts val="600"/>
              </a:spcAft>
              <a:buFont typeface="Wingdings" panose="05000000000000000000" charset="0"/>
              <a:buNone/>
            </a:pPr>
            <a:r>
              <a:rPr lang="en-US" altLang="en-US" sz="1400" b="1" dirty="0"/>
              <a:t>Data Preprocessing:</a:t>
            </a:r>
            <a:endParaRPr lang="en-US" altLang="en-US" sz="1400" b="1" dirty="0"/>
          </a:p>
          <a:p>
            <a:pPr>
              <a:spcBef>
                <a:spcPct val="20000"/>
              </a:spcBef>
              <a:spcAft>
                <a:spcPts val="600"/>
              </a:spcAft>
              <a:buFont typeface="Wingdings" panose="05000000000000000000" charset="0"/>
              <a:buChar char="v"/>
            </a:pPr>
            <a:r>
              <a:rPr lang="en-US" altLang="en-US" sz="1400" dirty="0"/>
              <a:t>Clean and transform the dataset by removing unnecessary symbols, converting text values into numerical format, and handling missing or inconsistent data to ensure accurate analysis.</a:t>
            </a:r>
            <a:endParaRPr lang="en-US" altLang="en-US" sz="1400" dirty="0"/>
          </a:p>
          <a:p>
            <a:pPr marL="0" indent="0">
              <a:spcBef>
                <a:spcPct val="20000"/>
              </a:spcBef>
              <a:spcAft>
                <a:spcPts val="600"/>
              </a:spcAft>
              <a:buFont typeface="Wingdings" panose="05000000000000000000" charset="0"/>
              <a:buNone/>
            </a:pPr>
            <a:r>
              <a:rPr lang="en-US" altLang="en-US" sz="1400" b="1" dirty="0"/>
              <a:t>Dashboard Development:</a:t>
            </a:r>
            <a:endParaRPr lang="en-US" altLang="en-US" sz="1400" b="1" dirty="0"/>
          </a:p>
          <a:p>
            <a:pPr>
              <a:spcBef>
                <a:spcPct val="20000"/>
              </a:spcBef>
              <a:spcAft>
                <a:spcPts val="600"/>
              </a:spcAft>
              <a:buFont typeface="Wingdings" panose="05000000000000000000" charset="0"/>
              <a:buChar char="v"/>
            </a:pPr>
            <a:r>
              <a:rPr lang="en-US" altLang="en-US" sz="1400" dirty="0"/>
              <a:t>Create an interactive Power BI dashboard with visualizations such as KPI cards, bar charts, pie charts, donut charts, and line charts to present insights like product distribution, rating trends, and price comparisons.</a:t>
            </a:r>
            <a:endParaRPr lang="en-US" altLang="en-US" sz="1400" dirty="0"/>
          </a:p>
          <a:p>
            <a:pPr marL="0" indent="0">
              <a:spcBef>
                <a:spcPct val="20000"/>
              </a:spcBef>
              <a:spcAft>
                <a:spcPts val="600"/>
              </a:spcAft>
              <a:buFont typeface="Wingdings" panose="05000000000000000000" charset="0"/>
              <a:buNone/>
            </a:pPr>
            <a:r>
              <a:rPr lang="en-US" altLang="en-US" sz="1400" b="1" dirty="0"/>
              <a:t>Deployment:</a:t>
            </a:r>
            <a:endParaRPr lang="en-US" altLang="en-US" sz="1400" b="1" dirty="0"/>
          </a:p>
          <a:p>
            <a:pPr>
              <a:spcBef>
                <a:spcPct val="20000"/>
              </a:spcBef>
              <a:spcAft>
                <a:spcPts val="600"/>
              </a:spcAft>
              <a:buFont typeface="Wingdings" panose="05000000000000000000" charset="0"/>
              <a:buChar char="v"/>
            </a:pPr>
            <a:r>
              <a:rPr lang="en-US" altLang="en-US" sz="1400" dirty="0"/>
              <a:t>The dashboard can be shared through Power BI reports, enabling users to easily explore and analyze Amazon product data for better understanding of sales patterns and product performance.</a:t>
            </a:r>
            <a:endParaRPr lang="en-US" altLang="en-US" sz="1400" dirty="0"/>
          </a:p>
          <a:p>
            <a:pPr marL="0" indent="0">
              <a:spcBef>
                <a:spcPct val="20000"/>
              </a:spcBef>
              <a:spcAft>
                <a:spcPts val="600"/>
              </a:spcAft>
              <a:buFont typeface="Wingdings" panose="05000000000000000000" charset="0"/>
              <a:buNone/>
            </a:pPr>
            <a:endParaRPr lang="en-US" altLang="en-US" sz="1400" dirty="0"/>
          </a:p>
          <a:p>
            <a:pPr>
              <a:spcBef>
                <a:spcPct val="20000"/>
              </a:spcBef>
              <a:spcAft>
                <a:spcPts val="600"/>
              </a:spcAft>
              <a:buFont typeface="Wingdings" panose="05000000000000000000" charset="0"/>
              <a:buChar char="v"/>
            </a:pPr>
            <a:endParaRPr lang="en-US" alt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1062990" y="1459230"/>
            <a:ext cx="8821420" cy="3673475"/>
          </a:xfrm>
          <a:prstGeom prst="rect">
            <a:avLst/>
          </a:prstGeom>
        </p:spPr>
        <p:txBody>
          <a:bodyPr>
            <a:noAutofit/>
          </a:bodyPr>
          <a:p>
            <a:r>
              <a:rPr sz="2000" b="1"/>
              <a:t>The dashboard provides:</a:t>
            </a:r>
            <a:endParaRPr sz="2000" b="1"/>
          </a:p>
          <a:p>
            <a:endParaRPr sz="2000" b="1"/>
          </a:p>
          <a:p>
            <a:r>
              <a:rPr sz="1600"/>
              <a:t>• Total number of products available</a:t>
            </a:r>
            <a:endParaRPr sz="1600"/>
          </a:p>
          <a:p>
            <a:r>
              <a:rPr sz="1600"/>
              <a:t> • Average product ratings</a:t>
            </a:r>
            <a:endParaRPr sz="1600"/>
          </a:p>
          <a:p>
            <a:r>
              <a:rPr sz="1600"/>
              <a:t> • Average discounts offered</a:t>
            </a:r>
            <a:endParaRPr sz="1600"/>
          </a:p>
          <a:p>
            <a:r>
              <a:rPr sz="1600"/>
              <a:t> • Category-wise product distribution</a:t>
            </a:r>
            <a:endParaRPr sz="1600"/>
          </a:p>
          <a:p>
            <a:r>
              <a:rPr sz="1600"/>
              <a:t> • Comparison of actual price vs discounted price</a:t>
            </a:r>
            <a:endParaRPr sz="1600"/>
          </a:p>
          <a:p>
            <a:r>
              <a:rPr sz="1600"/>
              <a:t> • Identification of top-rated products</a:t>
            </a:r>
            <a:endParaRPr sz="1600"/>
          </a:p>
          <a:p>
            <a:endParaRPr sz="1600"/>
          </a:p>
          <a:p>
            <a:r>
              <a:rPr sz="1600"/>
              <a:t>This helps users easily understand sales trends and product performance.</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5" y="699770"/>
            <a:ext cx="10515600" cy="704215"/>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500" y="1494790"/>
            <a:ext cx="10515600" cy="4893310"/>
          </a:xfrm>
        </p:spPr>
        <p:txBody>
          <a:bodyPr vert="horz" lIns="91440" tIns="45720" rIns="91440" bIns="45720" rtlCol="0">
            <a:normAutofit fontScale="25000"/>
          </a:bodyPr>
          <a:lstStyle/>
          <a:p>
            <a:pPr marL="0" indent="0">
              <a:spcBef>
                <a:spcPct val="20000"/>
              </a:spcBef>
              <a:spcAft>
                <a:spcPts val="600"/>
              </a:spcAft>
              <a:buFont typeface="Arial" panose="020B0604020202020204"/>
              <a:buNone/>
            </a:pPr>
            <a:r>
              <a:rPr lang="en-US" altLang="en-US" sz="4800">
                <a:latin typeface="Franklin Gothic Book" panose="020B0503020102020204"/>
              </a:rPr>
              <a:t>The system approach describes the overall methodology used to develop the Amazon Sales Analysis Dashboard. The main objective is to analyze Amazon product data and present useful insights through interactive visualizations in Power BI.</a:t>
            </a:r>
            <a:endParaRPr lang="en-US" altLang="en-US" sz="4800">
              <a:latin typeface="Franklin Gothic Book" panose="020B0503020102020204"/>
            </a:endParaRPr>
          </a:p>
          <a:p>
            <a:pPr marL="0" indent="0">
              <a:spcBef>
                <a:spcPct val="20000"/>
              </a:spcBef>
              <a:spcAft>
                <a:spcPts val="600"/>
              </a:spcAft>
              <a:buFont typeface="Arial" panose="020B0604020202020204"/>
              <a:buNone/>
            </a:pPr>
            <a:r>
              <a:rPr lang="en-IN" sz="4800" b="1">
                <a:latin typeface="Franklin Gothic Book" panose="020B0503020102020204"/>
              </a:rPr>
              <a:t>System requirements</a:t>
            </a:r>
            <a:endParaRPr lang="en-IN" sz="4800" b="1">
              <a:latin typeface="Franklin Gothic Book" panose="020B0503020102020204"/>
            </a:endParaRPr>
          </a:p>
          <a:p>
            <a:pPr>
              <a:spcBef>
                <a:spcPct val="20000"/>
              </a:spcBef>
              <a:spcAft>
                <a:spcPts val="600"/>
              </a:spcAft>
              <a:buFont typeface="Wingdings" panose="05000000000000000000" charset="0"/>
              <a:buChar char="v"/>
            </a:pPr>
            <a:r>
              <a:rPr lang="en-US" altLang="en-IN" sz="4800" b="1">
                <a:latin typeface="Franklin Gothic Book" panose="020B0503020102020204"/>
              </a:rPr>
              <a:t>Hardware Requirements</a:t>
            </a:r>
            <a:endParaRPr lang="en-US" altLang="en-IN" sz="4800" b="1">
              <a:latin typeface="Franklin Gothic Book" panose="020B0503020102020204"/>
            </a:endParaRPr>
          </a:p>
          <a:p>
            <a:pPr marL="342900" indent="-342900">
              <a:lnSpc>
                <a:spcPct val="100000"/>
              </a:lnSpc>
              <a:spcBef>
                <a:spcPct val="20000"/>
              </a:spcBef>
              <a:spcAft>
                <a:spcPts val="600"/>
              </a:spcAft>
              <a:buFont typeface="Wingdings" panose="05000000000000000000" charset="0"/>
              <a:buChar char="§"/>
            </a:pPr>
            <a:r>
              <a:rPr lang="en-US" altLang="en-US" sz="4800">
                <a:latin typeface="Franklin Gothic Book" panose="020B0503020102020204"/>
              </a:rPr>
              <a:t>Computer/Laptop with minimum 4GB RAM</a:t>
            </a:r>
            <a:endParaRPr lang="en-US" altLang="en-US" sz="4800">
              <a:latin typeface="Franklin Gothic Book" panose="020B0503020102020204"/>
            </a:endParaRPr>
          </a:p>
          <a:p>
            <a:pPr marL="342900" indent="-342900">
              <a:lnSpc>
                <a:spcPct val="100000"/>
              </a:lnSpc>
              <a:spcBef>
                <a:spcPct val="20000"/>
              </a:spcBef>
              <a:spcAft>
                <a:spcPts val="600"/>
              </a:spcAft>
              <a:buFont typeface="Wingdings" panose="05000000000000000000" charset="0"/>
              <a:buChar char="§"/>
            </a:pPr>
            <a:r>
              <a:rPr lang="en-US" altLang="en-US" sz="4800">
                <a:latin typeface="Franklin Gothic Book" panose="020B0503020102020204"/>
              </a:rPr>
              <a:t>Intel i3 processor or above</a:t>
            </a:r>
            <a:endParaRPr lang="en-US" altLang="en-US" sz="4800">
              <a:latin typeface="Franklin Gothic Book" panose="020B0503020102020204"/>
            </a:endParaRPr>
          </a:p>
          <a:p>
            <a:pPr marL="342900" indent="-342900">
              <a:lnSpc>
                <a:spcPct val="100000"/>
              </a:lnSpc>
              <a:spcBef>
                <a:spcPct val="20000"/>
              </a:spcBef>
              <a:spcAft>
                <a:spcPts val="600"/>
              </a:spcAft>
              <a:buFont typeface="Wingdings" panose="05000000000000000000" charset="0"/>
              <a:buChar char="§"/>
            </a:pPr>
            <a:r>
              <a:rPr lang="en-US" altLang="en-US" sz="4800">
                <a:latin typeface="Franklin Gothic Book" panose="020B0503020102020204"/>
              </a:rPr>
              <a:t>Minimum 10GB free storage</a:t>
            </a:r>
            <a:endParaRPr lang="en-US" altLang="en-US" sz="4800">
              <a:latin typeface="Franklin Gothic Book" panose="020B0503020102020204"/>
            </a:endParaRPr>
          </a:p>
          <a:p>
            <a:pPr>
              <a:lnSpc>
                <a:spcPct val="100000"/>
              </a:lnSpc>
              <a:spcBef>
                <a:spcPct val="20000"/>
              </a:spcBef>
              <a:spcAft>
                <a:spcPts val="600"/>
              </a:spcAft>
              <a:buFont typeface="Wingdings" panose="05000000000000000000" charset="0"/>
              <a:buChar char="v"/>
            </a:pPr>
            <a:r>
              <a:rPr lang="en-US" altLang="en-IN" sz="4800" b="1">
                <a:latin typeface="Franklin Gothic Book" panose="020B0503020102020204"/>
                <a:sym typeface="+mn-ea"/>
              </a:rPr>
              <a:t>Software Requirements</a:t>
            </a:r>
            <a:endParaRPr lang="en-US" altLang="en-IN" sz="4800" b="1">
              <a:latin typeface="Franklin Gothic Book" panose="020B0503020102020204"/>
              <a:sym typeface="+mn-ea"/>
            </a:endParaRPr>
          </a:p>
          <a:p>
            <a:pPr>
              <a:lnSpc>
                <a:spcPct val="100000"/>
              </a:lnSpc>
              <a:spcBef>
                <a:spcPct val="20000"/>
              </a:spcBef>
              <a:spcAft>
                <a:spcPts val="600"/>
              </a:spcAft>
              <a:buFont typeface="Wingdings" panose="05000000000000000000" charset="0"/>
              <a:buChar char="§"/>
            </a:pPr>
            <a:r>
              <a:rPr lang="en-US" altLang="en-US" sz="4800">
                <a:latin typeface="Franklin Gothic Book" panose="020B0503020102020204"/>
              </a:rPr>
              <a:t>Microsoft Power BI Desktop</a:t>
            </a:r>
            <a:endParaRPr lang="en-US" altLang="en-US" sz="4800">
              <a:latin typeface="Franklin Gothic Book" panose="020B0503020102020204"/>
            </a:endParaRPr>
          </a:p>
          <a:p>
            <a:pPr>
              <a:lnSpc>
                <a:spcPct val="100000"/>
              </a:lnSpc>
              <a:spcBef>
                <a:spcPct val="20000"/>
              </a:spcBef>
              <a:spcAft>
                <a:spcPts val="600"/>
              </a:spcAft>
              <a:buFont typeface="Wingdings" panose="05000000000000000000" charset="0"/>
              <a:buChar char="§"/>
            </a:pPr>
            <a:r>
              <a:rPr lang="en-US" altLang="en-US" sz="4800">
                <a:latin typeface="Franklin Gothic Book" panose="020B0503020102020204"/>
              </a:rPr>
              <a:t>Microsoft Excel / CSV dataset</a:t>
            </a:r>
            <a:endParaRPr lang="en-US" altLang="en-US" sz="4800">
              <a:latin typeface="Franklin Gothic Book" panose="020B0503020102020204"/>
            </a:endParaRPr>
          </a:p>
          <a:p>
            <a:pPr>
              <a:lnSpc>
                <a:spcPct val="100000"/>
              </a:lnSpc>
              <a:spcBef>
                <a:spcPct val="20000"/>
              </a:spcBef>
              <a:spcAft>
                <a:spcPts val="600"/>
              </a:spcAft>
              <a:buFont typeface="Wingdings" panose="05000000000000000000" charset="0"/>
              <a:buChar char="§"/>
            </a:pPr>
            <a:r>
              <a:rPr lang="en-US" altLang="en-US" sz="4800">
                <a:latin typeface="Franklin Gothic Book" panose="020B0503020102020204"/>
              </a:rPr>
              <a:t>Windows Operating System</a:t>
            </a:r>
            <a:endParaRPr lang="en-US" altLang="en-US" sz="4800">
              <a:latin typeface="Franklin Gothic Book" panose="020B0503020102020204"/>
            </a:endParaRPr>
          </a:p>
          <a:p>
            <a:pPr marL="0" indent="0">
              <a:spcBef>
                <a:spcPct val="20000"/>
              </a:spcBef>
              <a:spcAft>
                <a:spcPts val="600"/>
              </a:spcAft>
              <a:buFont typeface="Arial" panose="020B0604020202020204"/>
              <a:buNone/>
            </a:pPr>
            <a:r>
              <a:rPr lang="en-IN" sz="4800" b="1">
                <a:latin typeface="Franklin Gothic Book" panose="020B0503020102020204"/>
              </a:rPr>
              <a:t>Library required to build the model</a:t>
            </a:r>
            <a:endParaRPr lang="en-IN" sz="4800" b="1">
              <a:latin typeface="Franklin Gothic Book" panose="020B0503020102020204"/>
            </a:endParaRPr>
          </a:p>
          <a:p>
            <a:pPr marL="0" indent="0">
              <a:spcBef>
                <a:spcPct val="20000"/>
              </a:spcBef>
              <a:spcAft>
                <a:spcPts val="600"/>
              </a:spcAft>
              <a:buFont typeface="Arial" panose="020B0604020202020204"/>
              <a:buNone/>
            </a:pPr>
            <a:r>
              <a:rPr lang="en-US" altLang="en-US" sz="4800"/>
              <a:t>The following tools and components are used to develop the Amazon Sales Analysis Dashboard:</a:t>
            </a:r>
            <a:endParaRPr lang="en-US" altLang="en-US" sz="4800"/>
          </a:p>
          <a:p>
            <a:pPr>
              <a:spcBef>
                <a:spcPct val="20000"/>
              </a:spcBef>
              <a:spcAft>
                <a:spcPts val="600"/>
              </a:spcAft>
              <a:buFont typeface="Wingdings" panose="05000000000000000000" charset="0"/>
              <a:buChar char="Ø"/>
            </a:pPr>
            <a:r>
              <a:rPr lang="en-US" altLang="en-US" sz="4800" b="1"/>
              <a:t>Power BI Desktop</a:t>
            </a:r>
            <a:r>
              <a:rPr lang="en-US" altLang="en-US" sz="4800"/>
              <a:t> – Used to create interactive dashboards and visualizations.</a:t>
            </a:r>
            <a:endParaRPr lang="en-US" altLang="en-US" sz="4800"/>
          </a:p>
          <a:p>
            <a:pPr>
              <a:spcBef>
                <a:spcPct val="20000"/>
              </a:spcBef>
              <a:spcAft>
                <a:spcPts val="600"/>
              </a:spcAft>
              <a:buFont typeface="Wingdings" panose="05000000000000000000" charset="0"/>
              <a:buChar char="Ø"/>
            </a:pPr>
            <a:r>
              <a:rPr lang="en-US" altLang="en-US" sz="4800" b="1"/>
              <a:t>Power Query Edito</a:t>
            </a:r>
            <a:r>
              <a:rPr lang="en-US" altLang="en-US" sz="4800"/>
              <a:t>r – Used for data cleaning, transformation, and preprocessing.</a:t>
            </a:r>
            <a:endParaRPr lang="en-US" altLang="en-US" sz="4800"/>
          </a:p>
          <a:p>
            <a:pPr>
              <a:spcBef>
                <a:spcPct val="20000"/>
              </a:spcBef>
              <a:spcAft>
                <a:spcPts val="600"/>
              </a:spcAft>
              <a:buFont typeface="Wingdings" panose="05000000000000000000" charset="0"/>
              <a:buChar char="Ø"/>
            </a:pPr>
            <a:r>
              <a:rPr lang="en-US" altLang="en-US" sz="4800" b="1"/>
              <a:t>Dataset (Amazon product dataset) –</a:t>
            </a:r>
            <a:r>
              <a:rPr lang="en-US" altLang="en-US" sz="4800"/>
              <a:t> Used as the input data for analysis.</a:t>
            </a:r>
            <a:endParaRPr lang="en-US" altLang="en-US" sz="4800" b="1"/>
          </a:p>
          <a:p>
            <a:pPr>
              <a:spcBef>
                <a:spcPct val="20000"/>
              </a:spcBef>
              <a:spcAft>
                <a:spcPts val="600"/>
              </a:spcAft>
              <a:buFont typeface="Wingdings" panose="05000000000000000000" charset="0"/>
              <a:buChar char="Ø"/>
            </a:pPr>
            <a:r>
              <a:rPr lang="en-US" altLang="en-US" sz="4800" b="1"/>
              <a:t>DAX (Data Analysis Expressions) </a:t>
            </a:r>
            <a:r>
              <a:rPr lang="en-US" altLang="en-US" sz="4800"/>
              <a:t>– Used for creating calculated measures and aggregations.</a:t>
            </a:r>
            <a:endParaRPr lang="en-US" altLang="en-US" sz="4800"/>
          </a:p>
          <a:p>
            <a:pPr marL="0" indent="0">
              <a:spcBef>
                <a:spcPct val="20000"/>
              </a:spcBef>
              <a:spcAft>
                <a:spcPts val="600"/>
              </a:spcAft>
              <a:buFont typeface="Arial" panose="020B0604020202020204"/>
              <a:buNone/>
            </a:pPr>
            <a:endParaRPr lang="en-US" altLang="en-US" sz="4800"/>
          </a:p>
          <a:p>
            <a:pPr marL="0" indent="0">
              <a:spcBef>
                <a:spcPct val="20000"/>
              </a:spcBef>
              <a:spcAft>
                <a:spcPts val="600"/>
              </a:spcAft>
              <a:buFont typeface="Arial" panose="020B0604020202020204"/>
              <a:buNone/>
            </a:pPr>
            <a:endParaRPr lang="en-US" altLang="en-US" sz="4800"/>
          </a:p>
          <a:p>
            <a:pPr marL="0" indent="0">
              <a:spcBef>
                <a:spcPct val="20000"/>
              </a:spcBef>
              <a:spcAft>
                <a:spcPts val="600"/>
              </a:spcAft>
              <a:buFont typeface="Arial" panose="020B0604020202020204"/>
              <a:buNone/>
            </a:pPr>
            <a:endParaRPr lang="en-US" altLang="en-US" sz="4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02590" y="911225"/>
            <a:ext cx="11057255" cy="5319395"/>
          </a:xfrm>
          <a:prstGeom prst="rect">
            <a:avLst/>
          </a:prstGeom>
          <a:noFill/>
        </p:spPr>
        <p:txBody>
          <a:bodyPr wrap="square" rtlCol="0">
            <a:noAutofit/>
          </a:bodyPr>
          <a:p>
            <a:pPr>
              <a:lnSpc>
                <a:spcPct val="100000"/>
              </a:lnSpc>
            </a:pPr>
            <a:r>
              <a:rPr lang="en-US" altLang="en-US"/>
              <a:t>The development of the dashboard follows these steps:</a:t>
            </a:r>
            <a:endParaRPr lang="en-US" altLang="en-US"/>
          </a:p>
          <a:p>
            <a:pPr>
              <a:lnSpc>
                <a:spcPct val="100000"/>
              </a:lnSpc>
            </a:pPr>
            <a:endParaRPr lang="en-US" altLang="en-US"/>
          </a:p>
          <a:p>
            <a:pPr>
              <a:lnSpc>
                <a:spcPct val="100000"/>
              </a:lnSpc>
            </a:pPr>
            <a:r>
              <a:rPr lang="en-US" altLang="en-US" sz="2000" b="1"/>
              <a:t>1. Data Collection</a:t>
            </a:r>
            <a:endParaRPr lang="en-US" altLang="en-US" sz="2000" b="1"/>
          </a:p>
          <a:p>
            <a:pPr marL="285750" indent="-285750">
              <a:lnSpc>
                <a:spcPct val="100000"/>
              </a:lnSpc>
              <a:buFont typeface="Arial" panose="020B0604020202020204" pitchFamily="34" charset="0"/>
              <a:buChar char="•"/>
            </a:pPr>
            <a:r>
              <a:rPr lang="en-US" altLang="en-US"/>
              <a:t>Amazon product dataset containing product name, category, price, discount, rating, etc.</a:t>
            </a:r>
            <a:endParaRPr lang="en-US" altLang="en-US"/>
          </a:p>
          <a:p>
            <a:pPr>
              <a:lnSpc>
                <a:spcPct val="100000"/>
              </a:lnSpc>
            </a:pPr>
            <a:endParaRPr lang="en-US" altLang="en-US"/>
          </a:p>
          <a:p>
            <a:pPr>
              <a:lnSpc>
                <a:spcPct val="100000"/>
              </a:lnSpc>
            </a:pPr>
            <a:r>
              <a:rPr lang="en-US" altLang="en-US" sz="2000" b="1"/>
              <a:t>2. Data Cleaning</a:t>
            </a:r>
            <a:endParaRPr lang="en-US" altLang="en-US" sz="2000" b="1"/>
          </a:p>
          <a:p>
            <a:pPr marL="285750" indent="-285750">
              <a:lnSpc>
                <a:spcPct val="100000"/>
              </a:lnSpc>
              <a:buFont typeface="Arial" panose="020B0604020202020204" pitchFamily="34" charset="0"/>
              <a:buChar char="•"/>
            </a:pPr>
            <a:r>
              <a:rPr lang="en-US" altLang="en-US"/>
              <a:t>Removed currency symbols</a:t>
            </a:r>
            <a:endParaRPr lang="en-US" altLang="en-US"/>
          </a:p>
          <a:p>
            <a:pPr marL="285750" indent="-285750">
              <a:lnSpc>
                <a:spcPct val="100000"/>
              </a:lnSpc>
              <a:buFont typeface="Arial" panose="020B0604020202020204" pitchFamily="34" charset="0"/>
              <a:buChar char="•"/>
            </a:pPr>
            <a:r>
              <a:rPr lang="en-US" altLang="en-US"/>
              <a:t>Converted text values into numerical format</a:t>
            </a:r>
            <a:endParaRPr lang="en-US" altLang="en-US"/>
          </a:p>
          <a:p>
            <a:pPr marL="285750" indent="-285750">
              <a:lnSpc>
                <a:spcPct val="100000"/>
              </a:lnSpc>
              <a:buFont typeface="Arial" panose="020B0604020202020204" pitchFamily="34" charset="0"/>
              <a:buChar char="•"/>
            </a:pPr>
            <a:r>
              <a:rPr lang="en-US" altLang="en-US"/>
              <a:t>Handled missing or incorrect values</a:t>
            </a:r>
            <a:endParaRPr lang="en-US" altLang="en-US"/>
          </a:p>
          <a:p>
            <a:pPr>
              <a:lnSpc>
                <a:spcPct val="100000"/>
              </a:lnSpc>
            </a:pPr>
            <a:endParaRPr lang="en-US" altLang="en-US"/>
          </a:p>
          <a:p>
            <a:pPr>
              <a:lnSpc>
                <a:spcPct val="100000"/>
              </a:lnSpc>
            </a:pPr>
            <a:r>
              <a:rPr lang="en-US" altLang="en-US" sz="2000" b="1"/>
              <a:t>3. Data Analysis</a:t>
            </a:r>
            <a:endParaRPr lang="en-US" altLang="en-US" sz="2000" b="1"/>
          </a:p>
          <a:p>
            <a:pPr marL="285750" indent="-285750">
              <a:lnSpc>
                <a:spcPct val="100000"/>
              </a:lnSpc>
              <a:buFont typeface="Wingdings" panose="05000000000000000000" charset="0"/>
              <a:buChar char="§"/>
            </a:pPr>
            <a:r>
              <a:rPr lang="en-US" altLang="en-US"/>
              <a:t>Calculated averages</a:t>
            </a:r>
            <a:endParaRPr lang="en-US" altLang="en-US"/>
          </a:p>
          <a:p>
            <a:pPr marL="285750" indent="-285750">
              <a:lnSpc>
                <a:spcPct val="100000"/>
              </a:lnSpc>
              <a:buFont typeface="Wingdings" panose="05000000000000000000" charset="0"/>
              <a:buChar char="§"/>
            </a:pPr>
            <a:r>
              <a:rPr lang="en-US" altLang="en-US"/>
              <a:t>Counted products by category</a:t>
            </a:r>
            <a:endParaRPr lang="en-US" altLang="en-US"/>
          </a:p>
          <a:p>
            <a:pPr marL="285750" indent="-285750">
              <a:lnSpc>
                <a:spcPct val="100000"/>
              </a:lnSpc>
              <a:buFont typeface="Wingdings" panose="05000000000000000000" charset="0"/>
              <a:buChar char="§"/>
            </a:pPr>
            <a:r>
              <a:rPr lang="en-US" altLang="en-US"/>
              <a:t>Compared price and discount</a:t>
            </a:r>
            <a:endParaRPr lang="en-US" altLang="en-US"/>
          </a:p>
          <a:p>
            <a:pPr>
              <a:lnSpc>
                <a:spcPct val="100000"/>
              </a:lnSpc>
            </a:pPr>
            <a:endParaRPr lang="en-US" altLang="en-US"/>
          </a:p>
          <a:p>
            <a:pPr>
              <a:lnSpc>
                <a:spcPct val="100000"/>
              </a:lnSpc>
            </a:pPr>
            <a:r>
              <a:rPr lang="en-US" altLang="en-US" sz="2000" b="1"/>
              <a:t>4. Visualization</a:t>
            </a:r>
            <a:endParaRPr lang="en-US" altLang="en-US" sz="2000" b="1"/>
          </a:p>
          <a:p>
            <a:pPr marL="285750" indent="-285750">
              <a:lnSpc>
                <a:spcPct val="100000"/>
              </a:lnSpc>
              <a:buFont typeface="Arial" panose="020B0604020202020204" pitchFamily="34" charset="0"/>
              <a:buChar char="•"/>
            </a:pPr>
            <a:r>
              <a:rPr lang="en-US" altLang="en-US"/>
              <a:t>Built interactive charts and KPI cards using Power BI.</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a:bodyPr>
          <a:lstStyle/>
          <a:p>
            <a:pPr marL="0" indent="0">
              <a:spcBef>
                <a:spcPct val="20000"/>
              </a:spcBef>
              <a:spcAft>
                <a:spcPts val="600"/>
              </a:spcAft>
              <a:buFont typeface="Arial" panose="020B0604020202020204"/>
              <a:buNone/>
            </a:pPr>
            <a:r>
              <a:rPr lang="en-US" altLang="en-US" sz="1500" b="1"/>
              <a:t>Analysis Method Selection:</a:t>
            </a:r>
            <a:endParaRPr lang="en-US" altLang="en-US" sz="1500" b="1"/>
          </a:p>
          <a:p>
            <a:pPr marL="0" indent="0">
              <a:spcBef>
                <a:spcPct val="20000"/>
              </a:spcBef>
              <a:spcAft>
                <a:spcPts val="600"/>
              </a:spcAft>
              <a:buFont typeface="Arial" panose="020B0604020202020204"/>
              <a:buNone/>
            </a:pPr>
            <a:r>
              <a:rPr lang="en-US" altLang="en-US" sz="1500"/>
              <a:t>The project uses data visualization and analytical techniques in Power BI to analyze Amazon product data. Power BI was selected because it provides powerful tools for transforming raw data into meaningful visual insights through interactive dashboards.</a:t>
            </a:r>
            <a:endParaRPr lang="en-US" altLang="en-US" sz="1500"/>
          </a:p>
          <a:p>
            <a:pPr marL="0" indent="0">
              <a:spcBef>
                <a:spcPct val="20000"/>
              </a:spcBef>
              <a:spcAft>
                <a:spcPts val="600"/>
              </a:spcAft>
              <a:buFont typeface="Arial" panose="020B0604020202020204"/>
              <a:buNone/>
            </a:pPr>
            <a:r>
              <a:rPr lang="en-US" altLang="en-US" sz="1500" b="1"/>
              <a:t>Data Input:</a:t>
            </a:r>
            <a:endParaRPr lang="en-US" altLang="en-US" sz="1500" b="1"/>
          </a:p>
          <a:p>
            <a:pPr marL="0" indent="0">
              <a:spcBef>
                <a:spcPct val="20000"/>
              </a:spcBef>
              <a:spcAft>
                <a:spcPts val="600"/>
              </a:spcAft>
              <a:buFont typeface="Arial" panose="020B0604020202020204"/>
              <a:buNone/>
            </a:pPr>
            <a:r>
              <a:rPr lang="en-US" altLang="en-US" sz="1500"/>
              <a:t>The dataset used for this analysis includes the following features:</a:t>
            </a:r>
            <a:endParaRPr lang="en-US" altLang="en-US" sz="1500"/>
          </a:p>
          <a:p>
            <a:pPr marL="0" indent="0">
              <a:spcBef>
                <a:spcPct val="20000"/>
              </a:spcBef>
              <a:spcAft>
                <a:spcPts val="600"/>
              </a:spcAft>
              <a:buFont typeface="Arial" panose="020B0604020202020204"/>
              <a:buNone/>
            </a:pPr>
            <a:r>
              <a:rPr lang="en-US" altLang="en-US" sz="1500"/>
              <a:t>product_id, product_name, category, actual_price, discounted_price, discount_percentage, rating, and rating_count. These attributes help analyze product performance, pricing patterns and customer satisfaction.</a:t>
            </a:r>
            <a:endParaRPr lang="en-US" altLang="en-US" sz="1500"/>
          </a:p>
          <a:p>
            <a:pPr marL="0" indent="0">
              <a:spcBef>
                <a:spcPct val="20000"/>
              </a:spcBef>
              <a:spcAft>
                <a:spcPts val="600"/>
              </a:spcAft>
              <a:buFont typeface="Arial" panose="020B0604020202020204"/>
              <a:buNone/>
            </a:pPr>
            <a:r>
              <a:rPr lang="en-US" altLang="en-US" sz="1500" b="1"/>
              <a:t>Data Processing:</a:t>
            </a:r>
            <a:endParaRPr lang="en-US" altLang="en-US" sz="1500" b="1"/>
          </a:p>
          <a:p>
            <a:pPr marL="0" indent="0">
              <a:spcBef>
                <a:spcPct val="20000"/>
              </a:spcBef>
              <a:spcAft>
                <a:spcPts val="600"/>
              </a:spcAft>
              <a:buFont typeface="Arial" panose="020B0604020202020204"/>
              <a:buNone/>
            </a:pPr>
            <a:r>
              <a:rPr lang="en-US" altLang="en-US" sz="1500"/>
              <a:t>The dataset is cleaned and transformed using Power Query. This includes removing currency symbols, converting text data into numerical format and handling missing or inconsistent values to ensure accurate analysis.</a:t>
            </a:r>
            <a:endParaRPr lang="en-US" altLang="en-US" sz="1500"/>
          </a:p>
          <a:p>
            <a:pPr marL="0" indent="0">
              <a:spcBef>
                <a:spcPct val="20000"/>
              </a:spcBef>
              <a:spcAft>
                <a:spcPts val="600"/>
              </a:spcAft>
              <a:buFont typeface="Arial" panose="020B0604020202020204"/>
              <a:buNone/>
            </a:pPr>
            <a:r>
              <a:rPr lang="en-US" altLang="en-US" sz="1500" b="1"/>
              <a:t>Visualization Process:</a:t>
            </a:r>
            <a:endParaRPr lang="en-US" altLang="en-US" sz="1500" b="1"/>
          </a:p>
          <a:p>
            <a:pPr marL="0" indent="0">
              <a:spcBef>
                <a:spcPct val="20000"/>
              </a:spcBef>
              <a:spcAft>
                <a:spcPts val="600"/>
              </a:spcAft>
              <a:buFont typeface="Arial" panose="020B0604020202020204"/>
              <a:buNone/>
            </a:pPr>
            <a:r>
              <a:rPr lang="en-US" altLang="en-US" sz="1500"/>
              <a:t>After preprocessing, the data is visualized using Power BI charts such as KPI cards, bar charts, column charts, pie charts, donut charts, and slicers. These visualizations help users easily understand trends like product distribution, pricing comparisons and top-rated products.</a:t>
            </a:r>
            <a:endParaRPr lang="en-US" altLang="en-US" sz="1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180340" y="635000"/>
            <a:ext cx="8986520" cy="583565"/>
          </a:xfrm>
          <a:prstGeom prst="rect">
            <a:avLst/>
          </a:prstGeom>
          <a:noFill/>
        </p:spPr>
        <p:txBody>
          <a:bodyPr wrap="square" rtlCol="0">
            <a:spAutoFit/>
          </a:bodyPr>
          <a:p>
            <a:r>
              <a:rPr lang="en-US" sz="3200" b="1"/>
              <a:t>DASHBOARD VISUALIZATIONS</a:t>
            </a:r>
            <a:endParaRPr lang="en-US" sz="3200" b="1"/>
          </a:p>
        </p:txBody>
      </p:sp>
      <p:sp>
        <p:nvSpPr>
          <p:cNvPr id="7" name="Text Box 6"/>
          <p:cNvSpPr txBox="1"/>
          <p:nvPr/>
        </p:nvSpPr>
        <p:spPr>
          <a:xfrm>
            <a:off x="328930" y="1219200"/>
            <a:ext cx="9962515" cy="5301615"/>
          </a:xfrm>
          <a:prstGeom prst="rect">
            <a:avLst/>
          </a:prstGeom>
          <a:noFill/>
        </p:spPr>
        <p:txBody>
          <a:bodyPr wrap="square" rtlCol="0">
            <a:noAutofit/>
          </a:bodyPr>
          <a:p>
            <a:r>
              <a:rPr lang="en-US" altLang="en-US" sz="1600"/>
              <a:t>The dashboard contains the following visualizations:</a:t>
            </a:r>
            <a:endParaRPr lang="en-US" altLang="en-US" sz="1600"/>
          </a:p>
          <a:p>
            <a:r>
              <a:rPr lang="zh-CN" altLang="en-US"/>
              <a:t>📊</a:t>
            </a:r>
            <a:r>
              <a:rPr lang="en-US" altLang="en-US"/>
              <a:t>  </a:t>
            </a:r>
            <a:r>
              <a:rPr lang="en-US" altLang="en-US" b="1"/>
              <a:t>KPI Cards</a:t>
            </a:r>
            <a:endParaRPr lang="en-US" altLang="en-US"/>
          </a:p>
          <a:p>
            <a:pPr marL="742950" lvl="1" indent="-285750">
              <a:buFont typeface="Wingdings" panose="05000000000000000000" charset="0"/>
              <a:buChar char="v"/>
            </a:pPr>
            <a:r>
              <a:rPr lang="en-US" altLang="en-US" sz="1600"/>
              <a:t>Total Products</a:t>
            </a:r>
            <a:endParaRPr lang="en-US" altLang="en-US" sz="1600"/>
          </a:p>
          <a:p>
            <a:pPr marL="742950" lvl="1" indent="-285750">
              <a:buFont typeface="Wingdings" panose="05000000000000000000" charset="0"/>
              <a:buChar char="v"/>
            </a:pPr>
            <a:r>
              <a:rPr lang="en-US" altLang="en-US" sz="1600"/>
              <a:t>Average Rating</a:t>
            </a:r>
            <a:endParaRPr lang="en-US" altLang="en-US" sz="1600"/>
          </a:p>
          <a:p>
            <a:pPr marL="742950" lvl="1" indent="-285750">
              <a:buFont typeface="Wingdings" panose="05000000000000000000" charset="0"/>
              <a:buChar char="v"/>
            </a:pPr>
            <a:r>
              <a:rPr lang="en-US" altLang="en-US" sz="1600"/>
              <a:t>Average Discount</a:t>
            </a:r>
            <a:endParaRPr lang="en-US" altLang="en-US" sz="1600"/>
          </a:p>
          <a:p>
            <a:pPr marL="742950" lvl="1" indent="-285750">
              <a:buFont typeface="Wingdings" panose="05000000000000000000" charset="0"/>
              <a:buChar char="v"/>
            </a:pPr>
            <a:r>
              <a:rPr lang="en-US" altLang="en-US" sz="1600"/>
              <a:t>Average Discount Percentage</a:t>
            </a:r>
            <a:endParaRPr lang="en-US" altLang="en-US" sz="1600"/>
          </a:p>
          <a:p>
            <a:r>
              <a:rPr lang="zh-CN" altLang="en-US"/>
              <a:t>📊</a:t>
            </a:r>
            <a:r>
              <a:rPr lang="en-US" altLang="en-US"/>
              <a:t> </a:t>
            </a:r>
            <a:r>
              <a:rPr lang="en-US" altLang="en-US" b="1"/>
              <a:t> Bar Chart</a:t>
            </a:r>
            <a:endParaRPr lang="en-US" altLang="en-US"/>
          </a:p>
          <a:p>
            <a:pPr marL="742950" lvl="1" indent="-285750">
              <a:buFont typeface="Wingdings" panose="05000000000000000000" charset="0"/>
              <a:buChar char="v"/>
            </a:pPr>
            <a:r>
              <a:rPr lang="en-US" altLang="en-US" sz="1600"/>
              <a:t>Number of products by category</a:t>
            </a:r>
            <a:endParaRPr lang="en-US" altLang="en-US" sz="1600"/>
          </a:p>
          <a:p>
            <a:r>
              <a:rPr lang="zh-CN" altLang="en-US"/>
              <a:t>📊</a:t>
            </a:r>
            <a:r>
              <a:rPr lang="en-US" altLang="en-US" b="1"/>
              <a:t>  Column Chart</a:t>
            </a:r>
            <a:endParaRPr lang="en-US" altLang="en-US"/>
          </a:p>
          <a:p>
            <a:pPr marL="742950" lvl="1" indent="-285750">
              <a:buFont typeface="Wingdings" panose="05000000000000000000" charset="0"/>
              <a:buChar char="v"/>
            </a:pPr>
            <a:r>
              <a:rPr lang="en-US" altLang="en-US" sz="1600"/>
              <a:t>Actual Price vs Discounted Price</a:t>
            </a:r>
            <a:endParaRPr lang="en-US" altLang="en-US" sz="1600"/>
          </a:p>
          <a:p>
            <a:r>
              <a:rPr lang="zh-CN" altLang="en-US"/>
              <a:t>📊</a:t>
            </a:r>
            <a:r>
              <a:rPr lang="en-US" altLang="en-US" b="1"/>
              <a:t>  Bar Chart</a:t>
            </a:r>
            <a:endParaRPr lang="en-US" altLang="en-US"/>
          </a:p>
          <a:p>
            <a:pPr marL="742950" lvl="1" indent="-285750">
              <a:buFont typeface="Wingdings" panose="05000000000000000000" charset="0"/>
              <a:buChar char="v"/>
            </a:pPr>
            <a:r>
              <a:rPr lang="en-US" altLang="en-US" sz="1600"/>
              <a:t>Top Rated Products</a:t>
            </a:r>
            <a:endParaRPr lang="en-US" altLang="en-US" sz="1600"/>
          </a:p>
          <a:p>
            <a:r>
              <a:rPr lang="zh-CN" altLang="en-US"/>
              <a:t>📊</a:t>
            </a:r>
            <a:r>
              <a:rPr lang="en-US" altLang="en-US"/>
              <a:t>  </a:t>
            </a:r>
            <a:r>
              <a:rPr lang="en-US" altLang="en-US" b="1"/>
              <a:t>Pie Chart</a:t>
            </a:r>
            <a:endParaRPr lang="en-US" altLang="en-US"/>
          </a:p>
          <a:p>
            <a:pPr marL="742950" lvl="1" indent="-285750">
              <a:buFont typeface="Wingdings" panose="05000000000000000000" charset="0"/>
              <a:buChar char="v"/>
            </a:pPr>
            <a:r>
              <a:rPr lang="en-US" altLang="en-US" sz="1600"/>
              <a:t>Rating distribution</a:t>
            </a:r>
            <a:endParaRPr lang="en-US" altLang="en-US" sz="1600"/>
          </a:p>
          <a:p>
            <a:r>
              <a:rPr lang="zh-CN" altLang="en-US"/>
              <a:t>📊</a:t>
            </a:r>
            <a:r>
              <a:rPr lang="en-US" altLang="en-US" b="1"/>
              <a:t>  Donut Chart</a:t>
            </a:r>
            <a:endParaRPr lang="en-US" altLang="en-US"/>
          </a:p>
          <a:p>
            <a:pPr marL="742950" lvl="1" indent="-285750">
              <a:buFont typeface="Wingdings" panose="05000000000000000000" charset="0"/>
              <a:buChar char="v"/>
            </a:pPr>
            <a:r>
              <a:rPr lang="en-US" altLang="en-US" sz="1600"/>
              <a:t>Top product categories</a:t>
            </a:r>
            <a:endParaRPr lang="en-US" altLang="en-US" sz="1600"/>
          </a:p>
          <a:p>
            <a:r>
              <a:rPr lang="zh-CN" altLang="en-US"/>
              <a:t>📊</a:t>
            </a:r>
            <a:r>
              <a:rPr lang="en-US" altLang="en-US"/>
              <a:t> </a:t>
            </a:r>
            <a:r>
              <a:rPr lang="en-US" altLang="en-US" b="1"/>
              <a:t> Line Chart</a:t>
            </a:r>
            <a:endParaRPr lang="en-US" altLang="en-US"/>
          </a:p>
          <a:p>
            <a:pPr marL="742950" lvl="1" indent="-285750">
              <a:buFont typeface="Wingdings" panose="05000000000000000000" charset="0"/>
              <a:buChar char="v"/>
            </a:pPr>
            <a:r>
              <a:rPr lang="en-US" altLang="en-US" sz="1600"/>
              <a:t>Average rating by category</a:t>
            </a:r>
            <a:endParaRPr lang="en-US" altLang="en-US" sz="1600"/>
          </a:p>
          <a:p>
            <a:r>
              <a:rPr lang="zh-CN" altLang="en-US"/>
              <a:t>📊</a:t>
            </a:r>
            <a:r>
              <a:rPr lang="en-US" altLang="en-US" b="1"/>
              <a:t>  Slicer</a:t>
            </a:r>
            <a:endParaRPr lang="en-US" altLang="en-US"/>
          </a:p>
          <a:p>
            <a:pPr marL="742950" lvl="1" indent="-285750">
              <a:buFont typeface="Wingdings" panose="05000000000000000000" charset="0"/>
              <a:buChar char="v"/>
            </a:pPr>
            <a:r>
              <a:rPr lang="en-US" altLang="en-US" sz="1600"/>
              <a:t>Filter data by category</a:t>
            </a:r>
            <a:endParaRPr lang="en-US" alt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3600" b="1" cap="all">
                <a:latin typeface="Arial" panose="020B0604020202020204"/>
                <a:cs typeface="Arial" panose="020B0604020202020204"/>
              </a:rPr>
              <a:t>ResultS:</a:t>
            </a:r>
            <a:endParaRPr lang="en-US" sz="3600" b="1" cap="all" dirty="0">
              <a:latin typeface="Arial" panose="020B0604020202020204"/>
              <a:cs typeface="Arial" panose="020B0604020202020204"/>
            </a:endParaRPr>
          </a:p>
        </p:txBody>
      </p:sp>
      <p:sp>
        <p:nvSpPr>
          <p:cNvPr id="3" name="Content Placeholder 2"/>
          <p:cNvSpPr>
            <a:spLocks noGrp="1"/>
          </p:cNvSpPr>
          <p:nvPr>
            <p:ph idx="1"/>
          </p:nvPr>
        </p:nvSpPr>
        <p:spPr>
          <a:xfrm>
            <a:off x="337820" y="1141730"/>
            <a:ext cx="10515600" cy="4694555"/>
          </a:xfrm>
        </p:spPr>
        <p:txBody>
          <a:bodyPr vert="horz" lIns="91440" tIns="45720" rIns="91440" bIns="45720" rtlCol="0">
            <a:normAutofit/>
          </a:bodyPr>
          <a:lstStyle/>
          <a:p>
            <a:pPr marL="0" indent="0">
              <a:buNone/>
            </a:pPr>
            <a:r>
              <a:rPr lang="en-US" altLang="en-US" sz="1600"/>
              <a:t>The developed Amazon Sales Analysis Dashboard successfully provides meaningful insights from the Amazon product dataset using interactive visualizations. The dashboard displays important metrics such as total number of products, average ratings, and discount percentages. Different charts help analyze product distribution, price comparison, and rating trends effectively.</a:t>
            </a:r>
            <a:endParaRPr lang="en-US" altLang="en-US" sz="1600"/>
          </a:p>
          <a:p>
            <a:pPr marL="0" indent="0">
              <a:buNone/>
            </a:pPr>
            <a:endParaRPr lang="en-US" altLang="en-US" sz="1600"/>
          </a:p>
        </p:txBody>
      </p:sp>
      <p:pic>
        <p:nvPicPr>
          <p:cNvPr id="5" name="Picture 4" descr="Screenshot 2026-03-15 083308"/>
          <p:cNvPicPr>
            <a:picLocks noChangeAspect="1"/>
          </p:cNvPicPr>
          <p:nvPr/>
        </p:nvPicPr>
        <p:blipFill>
          <a:blip r:embed="rId1"/>
          <a:stretch>
            <a:fillRect/>
          </a:stretch>
        </p:blipFill>
        <p:spPr>
          <a:xfrm>
            <a:off x="337820" y="2091055"/>
            <a:ext cx="10757535" cy="4249420"/>
          </a:xfrm>
          <a:prstGeom prst="rect">
            <a:avLst/>
          </a:prstGeom>
        </p:spPr>
      </p:pic>
      <p:sp>
        <p:nvSpPr>
          <p:cNvPr id="6" name="Text Box 5"/>
          <p:cNvSpPr txBox="1"/>
          <p:nvPr/>
        </p:nvSpPr>
        <p:spPr>
          <a:xfrm>
            <a:off x="3460115" y="6340158"/>
            <a:ext cx="5080000" cy="306705"/>
          </a:xfrm>
          <a:prstGeom prst="rect">
            <a:avLst/>
          </a:prstGeom>
        </p:spPr>
        <p:txBody>
          <a:bodyPr>
            <a:spAutoFit/>
          </a:bodyPr>
          <a:p>
            <a:r>
              <a:rPr sz="1400" b="1"/>
              <a:t>Fig1: Amazon Sales Dashboard – Overview</a:t>
            </a:r>
            <a:endParaRPr sz="14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6-03-15 073502"/>
          <p:cNvPicPr>
            <a:picLocks noChangeAspect="1"/>
          </p:cNvPicPr>
          <p:nvPr/>
        </p:nvPicPr>
        <p:blipFill>
          <a:blip r:embed="rId1"/>
          <a:stretch>
            <a:fillRect/>
          </a:stretch>
        </p:blipFill>
        <p:spPr>
          <a:xfrm>
            <a:off x="219075" y="837565"/>
            <a:ext cx="11449050" cy="5474335"/>
          </a:xfrm>
          <a:prstGeom prst="rect">
            <a:avLst/>
          </a:prstGeom>
        </p:spPr>
      </p:pic>
      <p:sp>
        <p:nvSpPr>
          <p:cNvPr id="6" name="Text Box 5"/>
          <p:cNvSpPr txBox="1"/>
          <p:nvPr/>
        </p:nvSpPr>
        <p:spPr>
          <a:xfrm>
            <a:off x="2492375" y="6311900"/>
            <a:ext cx="6838950" cy="337185"/>
          </a:xfrm>
          <a:prstGeom prst="rect">
            <a:avLst/>
          </a:prstGeom>
        </p:spPr>
        <p:txBody>
          <a:bodyPr wrap="square">
            <a:spAutoFit/>
          </a:bodyPr>
          <a:p>
            <a:r>
              <a:rPr sz="1600" b="1"/>
              <a:t>Fig</a:t>
            </a:r>
            <a:r>
              <a:rPr lang="en-US" sz="1600" b="1"/>
              <a:t> </a:t>
            </a:r>
            <a:r>
              <a:rPr sz="1600" b="1"/>
              <a:t>2: Amazon Sales Dashboard – Category and Rating Analysis</a:t>
            </a:r>
            <a:endParaRPr sz="16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fontScale="90000"/>
          </a:bodyPr>
          <a:lstStyle/>
          <a:p>
            <a:pPr marL="0" indent="0">
              <a:buNone/>
            </a:pPr>
            <a:r>
              <a:rPr lang="en-US" altLang="en-US" sz="2000"/>
              <a:t>The Amazon Sales Analysis Dashboard successfully transforms raw product data into meaningful insights using Power BI visualizations. The dashboard helps analyze product categories, pricing differences, discounts, and customer ratings effectively. During the implementation, challenges such as data cleaning and format conversion were handled using Power Query. The developed dashboard makes it easier to understand product performance and customer preferences. This analysis helps in making better data-driven decisions for e-commerce platforms.</a:t>
            </a:r>
            <a:endParaRPr lang="en-US" altLang="en-US" sz="2000"/>
          </a:p>
          <a:p>
            <a:pPr marL="0" indent="0">
              <a:buNone/>
            </a:pPr>
            <a:r>
              <a:rPr lang="en-US" altLang="en-US" sz="2000" b="1"/>
              <a:t>Using Power BI visualizations, users can quickly analyze:</a:t>
            </a:r>
            <a:endParaRPr lang="en-US" altLang="en-US" sz="2000" b="1"/>
          </a:p>
          <a:p>
            <a:pPr>
              <a:buFont typeface="Wingdings" panose="05000000000000000000" charset="0"/>
              <a:buChar char="ü"/>
            </a:pPr>
            <a:r>
              <a:rPr lang="en-US" altLang="en-US" sz="2000"/>
              <a:t>Product categories</a:t>
            </a:r>
            <a:endParaRPr lang="en-US" altLang="en-US" sz="2000"/>
          </a:p>
          <a:p>
            <a:pPr>
              <a:buFont typeface="Wingdings" panose="05000000000000000000" charset="0"/>
              <a:buChar char="ü"/>
            </a:pPr>
            <a:r>
              <a:rPr lang="en-US" altLang="en-US" sz="2000"/>
              <a:t>Price differences</a:t>
            </a:r>
            <a:endParaRPr lang="en-US" altLang="en-US" sz="2000"/>
          </a:p>
          <a:p>
            <a:pPr>
              <a:buFont typeface="Wingdings" panose="05000000000000000000" charset="0"/>
              <a:buChar char="ü"/>
            </a:pPr>
            <a:r>
              <a:rPr lang="en-US" altLang="en-US" sz="2000"/>
              <a:t>Customer ratings</a:t>
            </a:r>
            <a:endParaRPr lang="en-US" altLang="en-US" sz="2000"/>
          </a:p>
          <a:p>
            <a:pPr>
              <a:buFont typeface="Wingdings" panose="05000000000000000000" charset="0"/>
              <a:buChar char="ü"/>
            </a:pPr>
            <a:r>
              <a:rPr lang="en-US" altLang="en-US" sz="2000"/>
              <a:t>Discount trends</a:t>
            </a:r>
            <a:endParaRPr lang="en-US" altLang="en-US" sz="2000"/>
          </a:p>
          <a:p>
            <a:pPr marL="0" indent="0">
              <a:buNone/>
            </a:pPr>
            <a:r>
              <a:rPr lang="en-US" altLang="en-US" sz="2000"/>
              <a:t>This dashboard helps businesses make better decisions based on data analysis.</a:t>
            </a:r>
            <a:endParaRPr lang="en-US" alt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r>
              <a:rPr lang="en-US" altLang="en-US" sz="2200" b="1"/>
              <a:t>The project can be further enhanced with the following improvements:</a:t>
            </a:r>
            <a:endParaRPr lang="en-US" altLang="en-US" sz="2200" b="1"/>
          </a:p>
          <a:p>
            <a:pPr marL="0" indent="0">
              <a:spcBef>
                <a:spcPct val="20000"/>
              </a:spcBef>
              <a:spcAft>
                <a:spcPts val="600"/>
              </a:spcAft>
              <a:buNone/>
            </a:pPr>
            <a:endParaRPr lang="en-US" altLang="en-US" sz="2200"/>
          </a:p>
          <a:p>
            <a:pPr marL="0" indent="0">
              <a:spcBef>
                <a:spcPct val="20000"/>
              </a:spcBef>
              <a:spcAft>
                <a:spcPts val="600"/>
              </a:spcAft>
              <a:buNone/>
            </a:pPr>
            <a:r>
              <a:rPr lang="en-US" altLang="en-US" sz="2200"/>
              <a:t>• Integration with real-time Amazon sales data for live analysis</a:t>
            </a:r>
            <a:endParaRPr lang="en-US" altLang="en-US" sz="2200"/>
          </a:p>
          <a:p>
            <a:pPr marL="0" indent="0">
              <a:spcBef>
                <a:spcPct val="20000"/>
              </a:spcBef>
              <a:spcAft>
                <a:spcPts val="600"/>
              </a:spcAft>
              <a:buNone/>
            </a:pPr>
            <a:r>
              <a:rPr lang="en-US" altLang="en-US" sz="2200"/>
              <a:t>• Addition of sales revenue and profit analysis for better business insights</a:t>
            </a:r>
            <a:endParaRPr lang="en-US" altLang="en-US" sz="2200"/>
          </a:p>
          <a:p>
            <a:pPr marL="0" indent="0">
              <a:spcBef>
                <a:spcPct val="20000"/>
              </a:spcBef>
              <a:spcAft>
                <a:spcPts val="600"/>
              </a:spcAft>
              <a:buNone/>
            </a:pPr>
            <a:r>
              <a:rPr lang="en-US" altLang="en-US" sz="2200"/>
              <a:t>• Use of advanced analytics and machine learning techniques</a:t>
            </a:r>
            <a:endParaRPr lang="en-US" altLang="en-US" sz="2200"/>
          </a:p>
          <a:p>
            <a:pPr marL="0" indent="0">
              <a:spcBef>
                <a:spcPct val="20000"/>
              </a:spcBef>
              <a:spcAft>
                <a:spcPts val="600"/>
              </a:spcAft>
              <a:buNone/>
            </a:pPr>
            <a:r>
              <a:rPr lang="en-US" altLang="en-US" sz="2200"/>
              <a:t>• Prediction of future sales trends and customer preferences</a:t>
            </a:r>
            <a:endParaRPr lang="en-US" altLang="en-US" sz="2200"/>
          </a:p>
          <a:p>
            <a:pPr marL="0" indent="0">
              <a:spcBef>
                <a:spcPct val="20000"/>
              </a:spcBef>
              <a:spcAft>
                <a:spcPts val="600"/>
              </a:spcAft>
              <a:buNone/>
            </a:pPr>
            <a:r>
              <a:rPr lang="en-US" altLang="en-US" sz="2200"/>
              <a:t>• Development of a web-based dashboard for real-time business monitoring</a:t>
            </a:r>
            <a:endParaRPr lang="en-US" altLang="en-US" sz="2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US" altLang="en-US" sz="2200">
                <a:latin typeface="Franklin Gothic Book" panose="020B0503020102020204"/>
              </a:rPr>
              <a:t>Kaggle – Amazon Product Dataset: Dataset used for analyzing product details such as price, discount, category, and customer ratings.</a:t>
            </a:r>
            <a:endParaRPr lang="en-US" altLang="en-US" sz="2200">
              <a:latin typeface="Franklin Gothic Book" panose="020B0503020102020204"/>
            </a:endParaRPr>
          </a:p>
          <a:p>
            <a:pPr marL="0" indent="0">
              <a:buNone/>
            </a:pPr>
            <a:endParaRPr lang="en-US" altLang="en-US" sz="2200">
              <a:latin typeface="Franklin Gothic Book" panose="020B0503020102020204"/>
            </a:endParaRPr>
          </a:p>
          <a:p>
            <a:pPr marL="0" indent="0">
              <a:buNone/>
            </a:pPr>
            <a:r>
              <a:rPr lang="en-US" altLang="en-US" sz="2200">
                <a:latin typeface="Franklin Gothic Book" panose="020B0503020102020204"/>
              </a:rPr>
              <a:t>Amazon Dataset Link:</a:t>
            </a:r>
            <a:endParaRPr lang="en-US" altLang="en-US" sz="2200">
              <a:latin typeface="Franklin Gothic Book" panose="020B0503020102020204"/>
            </a:endParaRPr>
          </a:p>
          <a:p>
            <a:pPr marL="0" indent="0">
              <a:buNone/>
            </a:pPr>
            <a:r>
              <a:rPr lang="en-US" altLang="en-US" sz="2200">
                <a:latin typeface="Franklin Gothic Book" panose="020B0503020102020204"/>
              </a:rPr>
              <a:t> </a:t>
            </a:r>
            <a:r>
              <a:rPr lang="en-US" altLang="en-US" sz="2200">
                <a:latin typeface="Franklin Gothic Book" panose="020B0503020102020204"/>
                <a:hlinkClick r:id="rId1" tooltip="" action="ppaction://hlinkfile"/>
              </a:rPr>
              <a:t>https://www.kaggle.com/code/mehakiftikhar/amazon-sales-dataset-eda/input</a:t>
            </a:r>
            <a:endParaRPr lang="en-US" altLang="en-US" sz="2200">
              <a:latin typeface="Franklin Gothic Book" panose="020B0503020102020204"/>
            </a:endParaRPr>
          </a:p>
          <a:p>
            <a:pPr marL="0" indent="0">
              <a:buNone/>
            </a:pPr>
            <a:r>
              <a:rPr lang="en-IN" sz="2200">
                <a:latin typeface="Franklin Gothic Book" panose="020B0503020102020204"/>
              </a:rPr>
              <a:t>GitHub </a:t>
            </a:r>
            <a:r>
              <a:rPr lang="en-US" altLang="en-IN" sz="2200">
                <a:latin typeface="Franklin Gothic Book" panose="020B0503020102020204"/>
              </a:rPr>
              <a:t>Repository </a:t>
            </a:r>
            <a:r>
              <a:rPr lang="en-IN" sz="2200">
                <a:latin typeface="Franklin Gothic Book" panose="020B0503020102020204"/>
              </a:rPr>
              <a:t>Link:</a:t>
            </a:r>
            <a:r>
              <a:rPr lang="en-IN" sz="2200">
                <a:solidFill>
                  <a:srgbClr val="0070C0"/>
                </a:solidFill>
                <a:latin typeface="Franklin Gothic Book" panose="020B0503020102020204"/>
              </a:rPr>
              <a:t> </a:t>
            </a:r>
            <a:endParaRPr lang="en-IN" sz="2200">
              <a:solidFill>
                <a:srgbClr val="0070C0"/>
              </a:solidFill>
              <a:latin typeface="Franklin Gothic Book" panose="020B0503020102020204"/>
            </a:endParaRPr>
          </a:p>
          <a:p>
            <a:pPr marL="0" indent="0">
              <a:buNone/>
            </a:pPr>
            <a:r>
              <a:rPr lang="en-US" sz="2200" u="sng">
                <a:solidFill>
                  <a:srgbClr val="0070C0"/>
                </a:solidFill>
                <a:latin typeface="Franklin Gothic Book" panose="020B0503020102020204"/>
                <a:hlinkClick r:id="rId2" tooltip="" action="ppaction://hlinkfile"/>
              </a:rPr>
              <a:t>https://github.com/saisree1431/Amazon-Sales_Analysis-Project-using-Power-BI</a:t>
            </a:r>
            <a:endParaRPr lang="en-IN" sz="2200" u="sng">
              <a:solidFill>
                <a:srgbClr val="0070C0"/>
              </a:solidFill>
              <a:latin typeface="Franklin Gothic Book" panose="020B0503020102020204"/>
            </a:endParaRPr>
          </a:p>
          <a:p>
            <a:pPr marL="0" indent="0">
              <a:buNone/>
            </a:pPr>
            <a:endParaRPr lang="en-IN" sz="2200" u="sng">
              <a:solidFill>
                <a:srgbClr val="0070C0"/>
              </a:solidFill>
              <a:latin typeface="Franklin Gothic Book" panose="020B0503020102020204"/>
            </a:endParaRPr>
          </a:p>
          <a:p>
            <a:pPr marL="0" indent="0">
              <a:buNone/>
            </a:pPr>
            <a:endParaRPr lang="en-IN" sz="2200">
              <a:latin typeface="Franklin Gothic Book" panose="020B05030201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endParaRPr lang="en-US" sz="4800" b="1">
              <a:solidFill>
                <a:srgbClr val="002060"/>
              </a:solidFill>
              <a:latin typeface="Arial" panose="020B0604020202020204"/>
              <a:cs typeface="Arial" panose="020B0604020202020204"/>
            </a:endParaRPr>
          </a:p>
        </p:txBody>
      </p:sp>
    </p:spTree>
    <p:custDataLst>
      <p:tags r:id="rId1"/>
    </p:custDataLst>
  </p:cSld>
  <p:clrMapOvr>
    <a:masterClrMapping/>
  </p:clrMapOvr>
</p:sld>
</file>

<file path=ppt/tags/tag1.xml><?xml version="1.0" encoding="utf-8"?>
<p:tagLst xmlns:p="http://schemas.openxmlformats.org/presentationml/2006/main">
  <p:tag name="ARTICULATE_SLIDE_THUMBNAIL_REFRESH" val="1"/>
</p:tagLst>
</file>

<file path=ppt/tags/tag2.xml><?xml version="1.0" encoding="utf-8"?>
<p:tagLst xmlns:p="http://schemas.openxmlformats.org/presentationml/2006/main">
  <p:tag name="ARTICULATE_SLIDE_THUMBNAIL_REFRESH" val="1"/>
</p:tagLst>
</file>

<file path=ppt/tags/tag3.xml><?xml version="1.0" encoding="utf-8"?>
<p:tagLst xmlns:p="http://schemas.openxmlformats.org/presentationml/2006/main">
  <p:tag name="ARTICULATE_SLIDE_THUMBNAIL_REFRESH" val="1"/>
</p:tagLst>
</file>

<file path=ppt/tags/tag4.xml><?xml version="1.0" encoding="utf-8"?>
<p:tagLst xmlns:p="http://schemas.openxmlformats.org/presentationml/2006/main">
  <p:tag name="ARTICULATE_DESIGN_ID_1_OFFICE THEME" val="TmdBxN3j"/>
  <p:tag name="ARTICULATE_PROJECT_OPEN" val="0"/>
  <p:tag name="ARTICULATE_SLIDE_COUNT" val="9"/>
</p:tagLst>
</file>

<file path=ppt/theme/theme1.xml><?xml version="1.0" encoding="utf-8"?>
<a:theme xmlns:a="http://schemas.openxmlformats.org/drawingml/2006/main" name="1_Office Theme">
  <a:themeElements>
    <a:clrScheme na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A9DE2"/>
      </a:hlink>
      <a:folHlink>
        <a:srgbClr val="4A9DE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7203</Words>
  <Application>WPS Presentation</Application>
  <PresentationFormat>Widescreen</PresentationFormat>
  <Paragraphs>169</Paragraphs>
  <Slides>15</Slides>
  <Notes>2</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15</vt:i4>
      </vt:variant>
    </vt:vector>
  </HeadingPairs>
  <TitlesOfParts>
    <vt:vector size="32" baseType="lpstr">
      <vt:lpstr>Arial</vt:lpstr>
      <vt:lpstr>SimSun</vt:lpstr>
      <vt:lpstr>Wingdings</vt:lpstr>
      <vt:lpstr>Aptos</vt:lpstr>
      <vt:lpstr>Segoe UI</vt:lpstr>
      <vt:lpstr>Arial</vt:lpstr>
      <vt:lpstr>Franklin Gothic Book</vt:lpstr>
      <vt:lpstr>Calibri</vt:lpstr>
      <vt:lpstr>Aptos Display</vt:lpstr>
      <vt:lpstr>Segoe UI Variable Display</vt:lpstr>
      <vt:lpstr>Microsoft YaHei</vt:lpstr>
      <vt:lpstr>Arial Unicode MS</vt:lpstr>
      <vt:lpstr>Aptos</vt:lpstr>
      <vt:lpstr>Wingdings</vt:lpstr>
      <vt:lpstr>等线</vt:lpstr>
      <vt:lpstr>1_Office Theme</vt:lpstr>
      <vt:lpstr>Custom Design</vt:lpstr>
      <vt:lpstr>PowerPoint 演示文稿</vt:lpstr>
      <vt:lpstr>OUTLINE:</vt:lpstr>
      <vt:lpstr>Problem Statement:</vt:lpstr>
      <vt:lpstr>Proposed Solution:</vt:lpstr>
      <vt:lpstr>PowerPoint 演示文稿</vt:lpstr>
      <vt:lpstr>System  Approach:</vt:lpstr>
      <vt:lpstr>PowerPoint 演示文稿</vt:lpstr>
      <vt:lpstr>Algorithm &amp; Deployment:</vt:lpstr>
      <vt:lpstr>PowerPoint 演示文稿</vt:lpstr>
      <vt:lpstr>Result:</vt:lpstr>
      <vt:lpstr>PowerPoint 演示文稿</vt:lpstr>
      <vt:lpstr>Conclusion:</vt:lpstr>
      <vt:lpstr>Future scope:</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Ujjuri saisri</cp:lastModifiedBy>
  <cp:revision>106</cp:revision>
  <dcterms:created xsi:type="dcterms:W3CDTF">2024-05-21T11:55:00Z</dcterms:created>
  <dcterms:modified xsi:type="dcterms:W3CDTF">2026-03-15T03:31:15Z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1A0EE75AC79A4EE4B70A3782360D1BF2_13</vt:lpwstr>
  </property>
  <property fmtid="{D5CDD505-2E9C-101B-9397-08002B2CF9AE}" pid="5" name="KSOProductBuildVer">
    <vt:lpwstr>1033-12.2.0.23196</vt:lpwstr>
  </property>
</Properties>
</file>